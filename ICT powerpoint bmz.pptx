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1" autoAdjust="0"/>
    <p:restoredTop sz="94660"/>
  </p:normalViewPr>
  <p:slideViewPr>
    <p:cSldViewPr snapToGrid="0" snapToObjects="1">
      <p:cViewPr varScale="1">
        <p:scale>
          <a:sx n="52" d="100"/>
          <a:sy n="52" d="100"/>
        </p:scale>
        <p:origin x="-56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52489"/>
            <a:ext cx="7921752" cy="1470025"/>
          </a:xfrm>
        </p:spPr>
        <p:txBody>
          <a:bodyPr>
            <a:noAutofit/>
          </a:bodyPr>
          <a:lstStyle/>
          <a:p>
            <a:r>
              <a:rPr lang="en-GB" sz="4600" dirty="0" smtClean="0">
                <a:solidFill>
                  <a:schemeClr val="bg1">
                    <a:lumMod val="95000"/>
                  </a:schemeClr>
                </a:solidFill>
              </a:rPr>
              <a:t>Information and Communication Technologies (TCI)</a:t>
            </a:r>
            <a:endParaRPr lang="en-GB" sz="4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3520" y="4547616"/>
            <a:ext cx="6400800" cy="1299972"/>
          </a:xfrm>
        </p:spPr>
        <p:txBody>
          <a:bodyPr>
            <a:normAutofit fontScale="85000" lnSpcReduction="20000"/>
          </a:bodyPr>
          <a:lstStyle/>
          <a:p>
            <a:endParaRPr lang="en-GB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USTHB University</a:t>
            </a:r>
          </a:p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Academic Year 2025–2026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9621243"/>
              </p:ext>
            </p:extLst>
          </p:nvPr>
        </p:nvGraphicFramePr>
        <p:xfrm>
          <a:off x="3090672" y="2333244"/>
          <a:ext cx="3163824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82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>
                          <a:latin typeface="Arial" pitchFamily="34" charset="0"/>
                          <a:cs typeface="Arial" pitchFamily="34" charset="0"/>
                        </a:rPr>
                        <a:t>Presented by</a:t>
                      </a:r>
                    </a:p>
                    <a:p>
                      <a:endParaRPr lang="en-GB" dirty="0" smtClean="0">
                        <a:latin typeface="Arial" pitchFamily="34" charset="0"/>
                        <a:cs typeface="Arial" pitchFamily="34" charset="0"/>
                      </a:endParaRP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2400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Benmakloufi</a:t>
                      </a:r>
                      <a:r>
                        <a:rPr lang="en-GB" sz="24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 </a:t>
                      </a:r>
                      <a:r>
                        <a:rPr lang="en-GB" sz="2400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rial" pitchFamily="34" charset="0"/>
                          <a:cs typeface="Arial" pitchFamily="34" charset="0"/>
                        </a:rPr>
                        <a:t>Zohair</a:t>
                      </a:r>
                      <a:endParaRPr lang="en-GB" sz="2400" dirty="0" smtClean="0">
                        <a:solidFill>
                          <a:schemeClr val="bg1">
                            <a:lumMod val="95000"/>
                          </a:schemeClr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626" y="2729603"/>
            <a:ext cx="8229600" cy="1143000"/>
          </a:xfrm>
        </p:spPr>
        <p:txBody>
          <a:bodyPr>
            <a:normAutofit/>
          </a:bodyPr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1- What is TIC?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252331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Information and Communication Technologies (ICT) refer to the set of technologies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used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to create, store, process, and exchange information. </a:t>
            </a:r>
            <a:endParaRPr lang="en-US" dirty="0" smtClean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ICT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combines computing, telecommunications, and digital media.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875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 2- C</a:t>
            </a:r>
            <a:r>
              <a:rPr dirty="0" err="1" smtClean="0">
                <a:solidFill>
                  <a:schemeClr val="bg1">
                    <a:lumMod val="95000"/>
                  </a:schemeClr>
                </a:solidFill>
              </a:rPr>
              <a:t>omponents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ICT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systems are composed of several interconnected components that work together to process and transmit information.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Hardware includes physical devices such as computers, servers, smartphones, routers, and printers.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Software includes operating systems, applications, and development tools.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Networks allow devices to communicate through the internet, LAN, or wireless technologies.</a:t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en-US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Data represents the information being processed, such as text, images, audio, and video.</a:t>
            </a:r>
            <a:endParaRPr lang="en-GB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buNone/>
            </a:pPr>
            <a:endParaRPr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58" y="18051"/>
            <a:ext cx="1514402" cy="151440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32896"/>
            <a:ext cx="8229600" cy="1143000"/>
          </a:xfrm>
        </p:spPr>
        <p:txBody>
          <a:bodyPr>
            <a:normAutofit/>
          </a:bodyPr>
          <a:lstStyle/>
          <a:p>
            <a:r>
              <a:rPr lang="en-GB" sz="4800" dirty="0" smtClean="0">
                <a:solidFill>
                  <a:schemeClr val="bg1">
                    <a:lumMod val="95000"/>
                  </a:schemeClr>
                </a:solidFill>
              </a:rPr>
              <a:t>3- </a:t>
            </a:r>
            <a:r>
              <a:rPr sz="4800" dirty="0" smtClean="0">
                <a:solidFill>
                  <a:schemeClr val="bg1">
                    <a:lumMod val="95000"/>
                  </a:schemeClr>
                </a:solidFill>
              </a:rPr>
              <a:t>Importance </a:t>
            </a:r>
            <a:r>
              <a:rPr sz="4800" dirty="0">
                <a:solidFill>
                  <a:schemeClr val="bg1">
                    <a:lumMod val="95000"/>
                  </a:schemeClr>
                </a:solidFill>
              </a:rPr>
              <a:t>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46504"/>
            <a:ext cx="8229600" cy="4525963"/>
          </a:xfrm>
        </p:spPr>
        <p:txBody>
          <a:bodyPr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Fast communication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Increased productivity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Online education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Digital business and healthcare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281" y="274638"/>
            <a:ext cx="1042098" cy="1042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4-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Google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Services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49" y="182562"/>
            <a:ext cx="1417638" cy="141763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7693" y="1806395"/>
            <a:ext cx="1020167" cy="102016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2916" y="1791589"/>
            <a:ext cx="1049781" cy="104978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645" y="1898325"/>
            <a:ext cx="943045" cy="943045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7337" y="1677744"/>
            <a:ext cx="1307084" cy="1307084"/>
          </a:xfrm>
          <a:prstGeom prst="rect">
            <a:avLst/>
          </a:prstGeom>
        </p:spPr>
      </p:pic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623740"/>
              </p:ext>
            </p:extLst>
          </p:nvPr>
        </p:nvGraphicFramePr>
        <p:xfrm>
          <a:off x="6805864" y="3018496"/>
          <a:ext cx="160388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3884"/>
              </a:tblGrid>
              <a:tr h="655267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Google Docs, Sheets, Slides</a:t>
                      </a:r>
                    </a:p>
                    <a:p>
                      <a:pPr algn="ctr"/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074790"/>
              </p:ext>
            </p:extLst>
          </p:nvPr>
        </p:nvGraphicFramePr>
        <p:xfrm>
          <a:off x="5164910" y="2980623"/>
          <a:ext cx="101193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193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Gmail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875701"/>
              </p:ext>
            </p:extLst>
          </p:nvPr>
        </p:nvGraphicFramePr>
        <p:xfrm>
          <a:off x="2178134" y="2886648"/>
          <a:ext cx="289928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284"/>
              </a:tblGrid>
              <a:tr h="394589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Google Drive </a:t>
                      </a:r>
                    </a:p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(cloud storage)</a:t>
                      </a:r>
                    </a:p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Tableau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732007"/>
              </p:ext>
            </p:extLst>
          </p:nvPr>
        </p:nvGraphicFramePr>
        <p:xfrm>
          <a:off x="219812" y="2978298"/>
          <a:ext cx="247471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712"/>
              </a:tblGrid>
              <a:tr h="370840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Google Cloud Platform</a:t>
                      </a:r>
                    </a:p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5-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Microsoft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Tools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391" y="333859"/>
            <a:ext cx="1266342" cy="1266342"/>
          </a:xfrm>
          <a:prstGeom prst="rect">
            <a:avLst/>
          </a:prstGeom>
        </p:spPr>
      </p:pic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727594"/>
              </p:ext>
            </p:extLst>
          </p:nvPr>
        </p:nvGraphicFramePr>
        <p:xfrm>
          <a:off x="3730487" y="1760820"/>
          <a:ext cx="183542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5426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Microsoft</a:t>
                      </a:r>
                      <a:r>
                        <a:rPr lang="en-GB" baseline="0" dirty="0" smtClean="0"/>
                        <a:t> office : 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832" y="2375452"/>
            <a:ext cx="771940" cy="77194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925" y="2390362"/>
            <a:ext cx="785191" cy="785191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1349" y="2370477"/>
            <a:ext cx="785191" cy="785191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2064" y="1517029"/>
            <a:ext cx="858423" cy="858423"/>
          </a:xfrm>
          <a:prstGeom prst="rect">
            <a:avLst/>
          </a:prstGeom>
        </p:spPr>
      </p:pic>
      <p:graphicFrame>
        <p:nvGraphicFramePr>
          <p:cNvPr id="10" name="Tableau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688281"/>
              </p:ext>
            </p:extLst>
          </p:nvPr>
        </p:nvGraphicFramePr>
        <p:xfrm>
          <a:off x="2875892" y="3096698"/>
          <a:ext cx="682487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487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word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au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930881"/>
              </p:ext>
            </p:extLst>
          </p:nvPr>
        </p:nvGraphicFramePr>
        <p:xfrm>
          <a:off x="3973993" y="3096698"/>
          <a:ext cx="67254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548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excel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au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456211"/>
              </p:ext>
            </p:extLst>
          </p:nvPr>
        </p:nvGraphicFramePr>
        <p:xfrm>
          <a:off x="4916556" y="3096698"/>
          <a:ext cx="129871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13"/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err="1" smtClean="0"/>
                        <a:t>powerpoint</a:t>
                      </a:r>
                      <a:r>
                        <a:rPr lang="en-GB" dirty="0" smtClean="0"/>
                        <a:t> </a:t>
                      </a:r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3" name="Imag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984" y="3864657"/>
            <a:ext cx="872569" cy="1549683"/>
          </a:xfrm>
          <a:prstGeom prst="rect">
            <a:avLst/>
          </a:prstGeom>
        </p:spPr>
      </p:pic>
      <p:graphicFrame>
        <p:nvGraphicFramePr>
          <p:cNvPr id="14" name="Tableau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9433827"/>
              </p:ext>
            </p:extLst>
          </p:nvPr>
        </p:nvGraphicFramePr>
        <p:xfrm>
          <a:off x="5881685" y="5094300"/>
          <a:ext cx="2531165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1165"/>
              </a:tblGrid>
              <a:tr h="3200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Windows Operating System</a:t>
                      </a:r>
                    </a:p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5" name="Imag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533" y="4125491"/>
            <a:ext cx="1028013" cy="1028013"/>
          </a:xfrm>
          <a:prstGeom prst="rect">
            <a:avLst/>
          </a:prstGeom>
        </p:spPr>
      </p:pic>
      <p:graphicFrame>
        <p:nvGraphicFramePr>
          <p:cNvPr id="16" name="Tableau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5011681"/>
              </p:ext>
            </p:extLst>
          </p:nvPr>
        </p:nvGraphicFramePr>
        <p:xfrm>
          <a:off x="3477866" y="5014843"/>
          <a:ext cx="2337349" cy="60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349"/>
              </a:tblGrid>
              <a:tr h="36382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OneDrive</a:t>
                      </a:r>
                      <a:r>
                        <a:rPr lang="en-GB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cloud storage</a:t>
                      </a:r>
                    </a:p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17" name="Imag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412" y="4281606"/>
            <a:ext cx="797143" cy="733237"/>
          </a:xfrm>
          <a:prstGeom prst="rect">
            <a:avLst/>
          </a:prstGeom>
        </p:spPr>
      </p:pic>
      <p:graphicFrame>
        <p:nvGraphicFramePr>
          <p:cNvPr id="18" name="Tableau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919558"/>
              </p:ext>
            </p:extLst>
          </p:nvPr>
        </p:nvGraphicFramePr>
        <p:xfrm>
          <a:off x="780049" y="5014843"/>
          <a:ext cx="2521226" cy="7145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1226"/>
              </a:tblGrid>
              <a:tr h="714513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Microsoft Teams and Azure</a:t>
                      </a:r>
                    </a:p>
                    <a:p>
                      <a:endParaRPr lang="en-GB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6- </a:t>
            </a:r>
            <a:r>
              <a:rPr dirty="0" err="1" smtClean="0">
                <a:solidFill>
                  <a:schemeClr val="bg1">
                    <a:lumMod val="95000"/>
                  </a:schemeClr>
                </a:solidFill>
              </a:rPr>
              <a:t>Git</a:t>
            </a:r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 and </a:t>
            </a:r>
            <a:r>
              <a:rPr lang="en-GB" dirty="0" err="1">
                <a:solidFill>
                  <a:schemeClr val="bg1">
                    <a:lumMod val="95000"/>
                  </a:schemeClr>
                </a:solidFill>
              </a:rPr>
              <a:t>GitHub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graphicFrame>
        <p:nvGraphicFramePr>
          <p:cNvPr id="8" name="Tableau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36887"/>
              </p:ext>
            </p:extLst>
          </p:nvPr>
        </p:nvGraphicFramePr>
        <p:xfrm>
          <a:off x="865632" y="1328928"/>
          <a:ext cx="7668768" cy="4791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34384"/>
                <a:gridCol w="3834384"/>
              </a:tblGrid>
              <a:tr h="804672"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smtClean="0"/>
                        <a:t>Git</a:t>
                      </a:r>
                      <a:endParaRPr lang="en-GB" sz="28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dirty="0" err="1" smtClean="0"/>
                        <a:t>GitHub</a:t>
                      </a:r>
                      <a:endParaRPr lang="en-GB" sz="2800" dirty="0"/>
                    </a:p>
                  </a:txBody>
                  <a:tcPr>
                    <a:noFill/>
                  </a:tcPr>
                </a:tc>
              </a:tr>
              <a:tr h="3986784"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200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</a:t>
                      </a:r>
                      <a:r>
                        <a:rPr lang="en-GB" sz="20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is a software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20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is installed locally on the system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20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is a command line tool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20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is a tool to manage </a:t>
                      </a:r>
                      <a:r>
                        <a:rPr lang="en-GB" sz="2000" baseline="0" dirty="0" err="1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differnet</a:t>
                      </a:r>
                      <a:r>
                        <a:rPr lang="en-GB" sz="20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versions of edits, made to files in a git repository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sz="2000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provides functionalities like Version Control System Source Code Management</a:t>
                      </a:r>
                      <a:endParaRPr lang="en-GB" sz="2000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is a service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is hosted on Web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provides a graphical interface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is a space to upload a copy of the </a:t>
                      </a:r>
                      <a:r>
                        <a:rPr lang="en-GB" b="1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Git</a:t>
                      </a: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repository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GB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It provides</a:t>
                      </a:r>
                      <a:r>
                        <a:rPr lang="en-GB" baseline="0" dirty="0" smtClean="0">
                          <a:solidFill>
                            <a:schemeClr val="bg1">
                              <a:lumMod val="95000"/>
                            </a:schemeClr>
                          </a:solidFill>
                        </a:rPr>
                        <a:t> functionalities of Git like VCS, Source Code Management as well as adding few of its own features</a:t>
                      </a:r>
                      <a:endParaRPr lang="en-GB" dirty="0">
                        <a:solidFill>
                          <a:schemeClr val="bg1">
                            <a:lumMod val="95000"/>
                          </a:schemeClr>
                        </a:solidFill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48" y="1417638"/>
            <a:ext cx="650177" cy="650177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140" y="1217201"/>
            <a:ext cx="892556" cy="89255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7-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Other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ICT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Cloud Computing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Artificial Intelligence (AI)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Internet of Things (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IoT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)</a:t>
            </a:r>
          </a:p>
          <a:p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Cybersecurity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8-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Advantages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Fast communication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Global connectivity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Automation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Easy access to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information</a:t>
            </a:r>
            <a:endParaRPr lang="en-GB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Enhanced learning  opportunities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201" y="459035"/>
            <a:ext cx="821125" cy="8211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9-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Disadvantages 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of 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Security risks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Privacy issues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Digital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addiction</a:t>
            </a:r>
            <a:endParaRPr lang="en-GB" dirty="0" smtClean="0">
              <a:solidFill>
                <a:schemeClr val="bg1">
                  <a:lumMod val="9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job </a:t>
            </a:r>
            <a:r>
              <a:rPr lang="en-US" dirty="0" err="1" smtClean="0">
                <a:solidFill>
                  <a:schemeClr val="bg1">
                    <a:lumMod val="95000"/>
                  </a:schemeClr>
                </a:solidFill>
              </a:rPr>
              <a:t>diplacement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due to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automation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health </a:t>
            </a:r>
            <a:r>
              <a:rPr lang="en-US" dirty="0" smtClean="0">
                <a:solidFill>
                  <a:schemeClr val="bg1">
                    <a:lumMod val="95000"/>
                  </a:schemeClr>
                </a:solidFill>
              </a:rPr>
              <a:t>issues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dependence on technology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605" y="234355"/>
            <a:ext cx="1365845" cy="1365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bg1">
                    <a:lumMod val="95000"/>
                  </a:schemeClr>
                </a:solidFill>
              </a:rPr>
              <a:t>10- </a:t>
            </a:r>
            <a:r>
              <a:rPr dirty="0" smtClean="0">
                <a:solidFill>
                  <a:schemeClr val="bg1">
                    <a:lumMod val="95000"/>
                  </a:schemeClr>
                </a:solidFill>
              </a:rPr>
              <a:t>Conclusion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ICT is essential in modern life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Improves efficiency and communication</a:t>
            </a:r>
          </a:p>
          <a:p>
            <a:r>
              <a:rPr dirty="0">
                <a:solidFill>
                  <a:schemeClr val="bg1">
                    <a:lumMod val="95000"/>
                  </a:schemeClr>
                </a:solidFill>
              </a:rPr>
              <a:t>Will continue shaping the future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299</Words>
  <Application>Microsoft Office PowerPoint</Application>
  <PresentationFormat>Affichage à l'écran (4:3)</PresentationFormat>
  <Paragraphs>66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Office Theme</vt:lpstr>
      <vt:lpstr>Information and Communication Technologies (TCI)</vt:lpstr>
      <vt:lpstr>1- What is TIC?</vt:lpstr>
      <vt:lpstr>Présentation PowerPoint</vt:lpstr>
      <vt:lpstr>  2- Components of ICT</vt:lpstr>
      <vt:lpstr>3- Importance of ICT</vt:lpstr>
      <vt:lpstr>4- Google Services</vt:lpstr>
      <vt:lpstr>5- Microsoft Tools</vt:lpstr>
      <vt:lpstr>6- Git and GitHub</vt:lpstr>
      <vt:lpstr>7- Other ICT Technologies</vt:lpstr>
      <vt:lpstr>8- Advantages of ICT</vt:lpstr>
      <vt:lpstr>9- Disadvantages of ICT</vt:lpstr>
      <vt:lpstr>10- 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and Communication Technologies (ICT)</dc:title>
  <dc:subject/>
  <dc:creator/>
  <cp:keywords/>
  <dc:description>generated using python-pptx</dc:description>
  <cp:lastModifiedBy>InfoMicro</cp:lastModifiedBy>
  <cp:revision>15</cp:revision>
  <dcterms:created xsi:type="dcterms:W3CDTF">2013-01-27T09:14:16Z</dcterms:created>
  <dcterms:modified xsi:type="dcterms:W3CDTF">2025-12-23T17:36:35Z</dcterms:modified>
  <cp:category/>
</cp:coreProperties>
</file>